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d17f41a-29ce-00ae-4e21-6597b9c56cdb}">
          <p14:sldIdLst>
            <p14:sldId id="256"/>
          </p14:sldIdLst>
        </p14:section>
        <p14:section name="Why" id="{20b3bacd-b402-015f-d7e7-66d88ee6ed91}">
          <p14:sldIdLst>
            <p14:sldId id="257"/>
            <p14:sldId id="258"/>
          </p14:sldIdLst>
        </p14:section>
        <p14:section name="Solution" id="{05a31602-6921-e382-cec7-bf82ee4a2861}">
          <p14:sldIdLst>
            <p14:sldId id="259"/>
          </p14:sldIdLst>
        </p14:section>
        <p14:section name="How it works" id="{007e4f22-b4cc-07bc-5ffb-4fe63d7cb84d}">
          <p14:sldIdLst>
            <p14:sldId id="260"/>
            <p14:sldId id="261"/>
            <p14:sldId id="262"/>
          </p14:sldIdLst>
        </p14:section>
        <p14:section name="Agents" id="{db482798-4331-2c3f-b7a8-a10fbd831c1b}">
          <p14:sldIdLst>
            <p14:sldId id="263"/>
          </p14:sldIdLst>
        </p14:section>
        <p14:section name="Results" id="{5785a884-7141-a033-d9b7-9f1401a2e67b}">
          <p14:sldIdLst>
            <p14:sldId id="264"/>
            <p14:sldId id="265"/>
          </p14:sldIdLst>
        </p14:section>
        <p14:section name="Demo" id="{f7c5494b-6a90-b46e-56eb-fb6baca52dda}">
          <p14:sldIdLst>
            <p14:sldId id="266"/>
          </p14:sldIdLst>
        </p14:section>
        <p14:section name="Wrap-up" id="{b5848ade-6681-c878-370e-3664ea04fc19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024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0242B"/>
                </a:solidFill>
                <a:latin typeface="+mn-lt"/>
              </a:rPr>
              <a:t>Top valuation drivers (% importance)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%</c:v>
                </c:pt>
              </c:strCache>
            </c:strRef>
          </c:tx>
          <c:spPr>
            <a:solidFill>
              <a:srgbClr val="0B3C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Overall quality</c:v>
                  </c:pt>
                  <c:pt idx="1">
                    <c:v>Living area</c:v>
                  </c:pt>
                  <c:pt idx="2">
                    <c:v>Basement area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</c:v>
                </c:pt>
                <c:pt idx="1">
                  <c:v>22</c:v>
                </c:pt>
                <c:pt idx="2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02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4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024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0242B"/>
                </a:solidFill>
                <a:latin typeface="+mn-lt"/>
              </a:rPr>
              <a:t>Mean score by metric (0–1)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Valuation accuracy</c:v>
                  </c:pt>
                  <c:pt idx="1">
                    <c:v>Faithfulness</c:v>
                  </c:pt>
                  <c:pt idx="2">
                    <c:v>Answer relevancy</c:v>
                  </c:pt>
                  <c:pt idx="3">
                    <c:v>Context precision</c:v>
                  </c:pt>
                  <c:pt idx="4">
                    <c:v>Context recall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0.9</c:v>
                </c:pt>
                <c:pt idx="2">
                  <c:v>0.88</c:v>
                </c:pt>
                <c:pt idx="3">
                  <c:v>0.85</c:v>
                </c:pt>
                <c:pt idx="4">
                  <c:v>0.85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02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4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sec. Introduce yourself, the domain (PropTech valuation) and the one-line promise: instant, explainable, audited valuations.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sec. Three pain points; the big number on the right is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sec. Four capabilities, each with a measurable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Walk top to bottom; each row maps to a later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Walk the numbers 1 to 10. Full-detail version: architecture/Architecture_Diagram.pdf.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Top row runs once; bottom row runs per valuation request. Test set is real-only (586 sales).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sec. Mention the heuristic fallback when no API key is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~1.5 min. Highlight dynamic comp_fit weighting instead of a static 50/50 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R² 0.9198 vs 0.9031 for the real-only baseline shows augmentation helps.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Faithfulness 0.90 means narratives cite real comps without hallucination.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~8 min total demo budget, about 1 min per tab. Rehearse with one property that has clear comps.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Each row is a real design decision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Q&amp;A. Likely questions: why synthetic data, how comp_fit weights are set, what the judge checks, how calibration avoids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Real Estate Valuation Assistant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PRODAPT CAPSTONE  ·  GENAI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Real Estate Property Valuation Assistant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C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Audited, risk-scored valuations in under 500 ms</a:t>
            </a:r>
            <a:endParaRPr lang="en-US" sz="1800" dirty="0"/>
          </a:p>
        </p:txBody>
      </p:sp>
      <p:sp>
        <p:nvSpPr>
          <p:cNvPr id="5" name="Stat property records"/>
          <p:cNvSpPr/>
          <p:nvPr/>
        </p:nvSpPr>
        <p:spPr>
          <a:xfrm>
            <a:off x="548640" y="3200400"/>
            <a:ext cx="1828800" cy="1005840"/>
          </a:xfrm>
          <a:prstGeom prst="roundRect">
            <a:avLst>
              <a:gd name="adj" fmla="val 9091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3291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records</a:t>
            </a:r>
            <a:endParaRPr lang="en-US" sz="1200" dirty="0"/>
          </a:p>
        </p:txBody>
      </p:sp>
      <p:sp>
        <p:nvSpPr>
          <p:cNvPr id="8" name="Stat test R²"/>
          <p:cNvSpPr/>
          <p:nvPr/>
        </p:nvSpPr>
        <p:spPr>
          <a:xfrm>
            <a:off x="2560320" y="3200400"/>
            <a:ext cx="1828800" cy="1005840"/>
          </a:xfrm>
          <a:prstGeom prst="roundRect">
            <a:avLst>
              <a:gd name="adj" fmla="val 9091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60320" y="3291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0.9198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3794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</a:t>
            </a:r>
            <a:endParaRPr lang="en-US" sz="1200" dirty="0"/>
          </a:p>
        </p:txBody>
      </p:sp>
      <p:sp>
        <p:nvSpPr>
          <p:cNvPr id="11" name="Stat DeepEval scenarios passed"/>
          <p:cNvSpPr/>
          <p:nvPr/>
        </p:nvSpPr>
        <p:spPr>
          <a:xfrm>
            <a:off x="4572000" y="3200400"/>
            <a:ext cx="1828800" cy="1005840"/>
          </a:xfrm>
          <a:prstGeom prst="roundRect">
            <a:avLst>
              <a:gd name="adj" fmla="val 9091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0" y="3291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94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scenarios passed</a:t>
            </a:r>
            <a:endParaRPr lang="en-US" sz="1200" dirty="0"/>
          </a:p>
        </p:txBody>
      </p:sp>
      <p:sp>
        <p:nvSpPr>
          <p:cNvPr id="14" name="Stat REST endpoints"/>
          <p:cNvSpPr/>
          <p:nvPr/>
        </p:nvSpPr>
        <p:spPr>
          <a:xfrm>
            <a:off x="6583680" y="3200400"/>
            <a:ext cx="1828800" cy="1005840"/>
          </a:xfrm>
          <a:prstGeom prst="roundRect">
            <a:avLst>
              <a:gd name="adj" fmla="val 9091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0" y="3291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794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endpoints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Kunjal Ahuja  ·  Senior AI/ML Engineer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Appraisals are slow, subjective and unscored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in how properties are valued today</a:t>
            </a:r>
            <a:endParaRPr lang="en-US" sz="1600" dirty="0"/>
          </a:p>
        </p:txBody>
      </p:sp>
      <p:sp>
        <p:nvSpPr>
          <p:cNvPr id="6" name="Icon Slow bg"/>
          <p:cNvSpPr/>
          <p:nvPr/>
        </p:nvSpPr>
        <p:spPr>
          <a:xfrm>
            <a:off x="457200" y="155448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7" name="Icon Slow" descr="Icon S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171450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188366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thousands of MLS records takes 3–7 business days</a:t>
            </a:r>
            <a:endParaRPr lang="en-US" sz="1400" dirty="0"/>
          </a:p>
        </p:txBody>
      </p:sp>
      <p:sp>
        <p:nvSpPr>
          <p:cNvPr id="10" name="Icon Subjective bg"/>
          <p:cNvSpPr/>
          <p:nvPr/>
        </p:nvSpPr>
        <p:spPr>
          <a:xfrm>
            <a:off x="457200" y="260604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1" name="Icon Subjective" descr="Icon Subj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" y="276606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93522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condition and age adjustments add appraiser bias</a:t>
            </a:r>
            <a:endParaRPr lang="en-US" sz="1400" dirty="0"/>
          </a:p>
        </p:txBody>
      </p:sp>
      <p:sp>
        <p:nvSpPr>
          <p:cNvPr id="14" name="Icon Unquantified risk bg"/>
          <p:cNvSpPr/>
          <p:nvPr/>
        </p:nvSpPr>
        <p:spPr>
          <a:xfrm>
            <a:off x="457200" y="365760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Icon Unquantified risk" descr="Icon Unquantified r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381762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Unquantified risk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398678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maintenance has no standard financial risk score</a:t>
            </a:r>
            <a:endParaRPr lang="en-US" sz="1400" dirty="0"/>
          </a:p>
        </p:txBody>
      </p:sp>
      <p:sp>
        <p:nvSpPr>
          <p:cNvPr id="18" name="Latency panel"/>
          <p:cNvSpPr/>
          <p:nvPr/>
        </p:nvSpPr>
        <p:spPr>
          <a:xfrm>
            <a:off x="5029200" y="1463040"/>
            <a:ext cx="3657600" cy="3154680"/>
          </a:xfrm>
          <a:prstGeom prst="roundRect">
            <a:avLst>
              <a:gd name="adj" fmla="val 289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530352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APPRAISAL TURNAROUND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5303520" y="21031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3–7</a:t>
            </a:r>
            <a:endParaRPr lang="en-US" sz="6600" dirty="0"/>
          </a:p>
        </p:txBody>
      </p:sp>
      <p:sp>
        <p:nvSpPr>
          <p:cNvPr id="21" name="Text 15"/>
          <p:cNvSpPr txBox="1"/>
          <p:nvPr/>
        </p:nvSpPr>
        <p:spPr>
          <a:xfrm>
            <a:off x="5303520" y="3200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C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days per property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5303520" y="37490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consistent adjustment method and no risk score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NEED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Instant, auditable valuations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replacing manual search, guesswork and unscored risk</a:t>
            </a:r>
            <a:endParaRPr lang="en-US" sz="1600" dirty="0"/>
          </a:p>
        </p:txBody>
      </p:sp>
      <p:sp>
        <p:nvSpPr>
          <p:cNvPr id="6" name="Need Instant comps"/>
          <p:cNvSpPr/>
          <p:nvPr/>
        </p:nvSpPr>
        <p:spPr>
          <a:xfrm>
            <a:off x="457200" y="1508760"/>
            <a:ext cx="1920240" cy="29260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Icon Instant comps bg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 Instant comps" descr="Icon Instant com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008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500 ms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2926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comps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32918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verified comparable sales on demand</a:t>
            </a:r>
            <a:endParaRPr lang="en-US" sz="1400" dirty="0"/>
          </a:p>
        </p:txBody>
      </p:sp>
      <p:sp>
        <p:nvSpPr>
          <p:cNvPr id="12" name="Need ML prediction"/>
          <p:cNvSpPr/>
          <p:nvPr/>
        </p:nvSpPr>
        <p:spPr>
          <a:xfrm>
            <a:off x="2542032" y="1508760"/>
            <a:ext cx="1920240" cy="29260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Icon ML prediction bg"/>
          <p:cNvSpPr/>
          <p:nvPr/>
        </p:nvSpPr>
        <p:spPr>
          <a:xfrm>
            <a:off x="2724912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 ML prediction" descr="Icon ML predi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8288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724912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0.92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2724912" y="2926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prediction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2724912" y="32918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estimate with a 90% interval</a:t>
            </a:r>
            <a:endParaRPr lang="en-US" sz="1400" dirty="0"/>
          </a:p>
        </p:txBody>
      </p:sp>
      <p:sp>
        <p:nvSpPr>
          <p:cNvPr id="18" name="Need Risk index"/>
          <p:cNvSpPr/>
          <p:nvPr/>
        </p:nvSpPr>
        <p:spPr>
          <a:xfrm>
            <a:off x="4626864" y="1508760"/>
            <a:ext cx="1920240" cy="29260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Icon Risk index bg"/>
          <p:cNvSpPr/>
          <p:nvPr/>
        </p:nvSpPr>
        <p:spPr>
          <a:xfrm>
            <a:off x="4809744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 Risk index" descr="Icon Risk inde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82880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809744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0–100</a:t>
            </a:r>
            <a:endParaRPr lang="en-US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4809744" y="2926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index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4809744" y="32918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physical and market risk</a:t>
            </a:r>
            <a:endParaRPr lang="en-US" sz="1400" dirty="0"/>
          </a:p>
        </p:txBody>
      </p:sp>
      <p:sp>
        <p:nvSpPr>
          <p:cNvPr id="24" name="Need LLM-judge audit"/>
          <p:cNvSpPr/>
          <p:nvPr/>
        </p:nvSpPr>
        <p:spPr>
          <a:xfrm>
            <a:off x="6711696" y="1508760"/>
            <a:ext cx="1920240" cy="29260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Icon LLM-judge audit bg"/>
          <p:cNvSpPr/>
          <p:nvPr/>
        </p:nvSpPr>
        <p:spPr>
          <a:xfrm>
            <a:off x="6894576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 LLM-judge audit" descr="Icon LLM-judge aud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82880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94576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APPROVED</a:t>
            </a:r>
            <a:endParaRPr lang="en-US" sz="2400" dirty="0"/>
          </a:p>
        </p:txBody>
      </p:sp>
      <p:sp>
        <p:nvSpPr>
          <p:cNvPr id="28" name="Text 21"/>
          <p:cNvSpPr txBox="1"/>
          <p:nvPr/>
        </p:nvSpPr>
        <p:spPr>
          <a:xfrm>
            <a:off x="6894576" y="2926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LLM-judge audit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94576" y="32918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valuation checked against evidence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 from data to appraiser dossier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building blocks, each answering one pain point</a:t>
            </a:r>
            <a:endParaRPr lang="en-US" sz="1600" dirty="0"/>
          </a:p>
        </p:txBody>
      </p:sp>
      <p:sp>
        <p:nvSpPr>
          <p:cNvPr id="6" name="Row Data pipeline"/>
          <p:cNvSpPr/>
          <p:nvPr/>
        </p:nvSpPr>
        <p:spPr>
          <a:xfrm>
            <a:off x="457200" y="1463040"/>
            <a:ext cx="822960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Icon Data pipeline bg"/>
          <p:cNvSpPr/>
          <p:nvPr/>
        </p:nvSpPr>
        <p:spPr>
          <a:xfrm>
            <a:off x="566928" y="1527048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con Data pipeline" descr="Icon Data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62763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14630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154680" y="1463040"/>
            <a:ext cx="5394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Ames records, 15 physical fields, 1–10 quality scale</a:t>
            </a:r>
            <a:endParaRPr lang="en-US" sz="1400" dirty="0"/>
          </a:p>
        </p:txBody>
      </p:sp>
      <p:sp>
        <p:nvSpPr>
          <p:cNvPr id="11" name="Row Hybrid RAG"/>
          <p:cNvSpPr/>
          <p:nvPr/>
        </p:nvSpPr>
        <p:spPr>
          <a:xfrm>
            <a:off x="457200" y="2103120"/>
            <a:ext cx="822960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Icon Hybrid RAG bg"/>
          <p:cNvSpPr/>
          <p:nvPr/>
        </p:nvSpPr>
        <p:spPr>
          <a:xfrm>
            <a:off x="566928" y="2167128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Icon Hybrid RAG" descr="Icon Hybrid R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267712"/>
            <a:ext cx="201168" cy="20116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21031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154680" y="2103120"/>
            <a:ext cx="5394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384-d vectors fused with TF-IDF keyword scoring</a:t>
            </a:r>
            <a:endParaRPr lang="en-US" sz="1400" dirty="0"/>
          </a:p>
        </p:txBody>
      </p:sp>
      <p:sp>
        <p:nvSpPr>
          <p:cNvPr id="16" name="Row Supervised ML"/>
          <p:cNvSpPr/>
          <p:nvPr/>
        </p:nvSpPr>
        <p:spPr>
          <a:xfrm>
            <a:off x="457200" y="2743200"/>
            <a:ext cx="822960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Icon Supervised ML bg"/>
          <p:cNvSpPr/>
          <p:nvPr/>
        </p:nvSpPr>
        <p:spPr>
          <a:xfrm>
            <a:off x="566928" y="2807208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con Supervised ML" descr="Icon Supervised 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907792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274320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ML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3154680" y="2743200"/>
            <a:ext cx="5394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with 90% prediction intervals</a:t>
            </a:r>
            <a:endParaRPr lang="en-US" sz="1400" dirty="0"/>
          </a:p>
        </p:txBody>
      </p:sp>
      <p:sp>
        <p:nvSpPr>
          <p:cNvPr id="21" name="Row Multi-agent core"/>
          <p:cNvSpPr/>
          <p:nvPr/>
        </p:nvSpPr>
        <p:spPr>
          <a:xfrm>
            <a:off x="457200" y="3383280"/>
            <a:ext cx="822960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Icon Multi-agent core bg"/>
          <p:cNvSpPr/>
          <p:nvPr/>
        </p:nvSpPr>
        <p:spPr>
          <a:xfrm>
            <a:off x="566928" y="3447288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con Multi-agent core" descr="Icon Multi-agent co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3547872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43000" y="338328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core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3154680" y="3383280"/>
            <a:ext cx="5394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Guardrail, classify, value, risk-score and audit</a:t>
            </a:r>
            <a:endParaRPr lang="en-US" sz="1400" dirty="0"/>
          </a:p>
        </p:txBody>
      </p:sp>
      <p:sp>
        <p:nvSpPr>
          <p:cNvPr id="26" name="Row Delivery"/>
          <p:cNvSpPr/>
          <p:nvPr/>
        </p:nvSpPr>
        <p:spPr>
          <a:xfrm>
            <a:off x="457200" y="4023360"/>
            <a:ext cx="822960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Icon Delivery bg"/>
          <p:cNvSpPr/>
          <p:nvPr/>
        </p:nvSpPr>
        <p:spPr>
          <a:xfrm>
            <a:off x="566928" y="4087368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8" name="Icon Delivery" descr="Icon Delive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187952"/>
            <a:ext cx="201168" cy="20116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143000" y="40233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600" dirty="0"/>
          </a:p>
        </p:txBody>
      </p:sp>
      <p:sp>
        <p:nvSpPr>
          <p:cNvPr id="30" name="Text 22"/>
          <p:cNvSpPr txBox="1"/>
          <p:nvPr/>
        </p:nvSpPr>
        <p:spPr>
          <a:xfrm>
            <a:off x="3154680" y="4023360"/>
            <a:ext cx="5394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service plus a 7-tab React 18 app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 from dataset to user interface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prepares and indexes the data; phase 2 answers each request</a:t>
            </a:r>
            <a:endParaRPr lang="en-US" sz="1600" dirty="0"/>
          </a:p>
        </p:txBody>
      </p:sp>
      <p:pic>
        <p:nvPicPr>
          <p:cNvPr id="6" name="Architecture diagram" descr="Architecture diagram: Dataset, Preprocessing, Chunking, Embeddings, Vector Database, Retriever, LLM/RAG Pipeline, Agents, API Layer, User Inter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371600"/>
            <a:ext cx="7424928" cy="338453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data moves through the system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once offline, then reused on every request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417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 ·  OFFLINE</a:t>
            </a:r>
            <a:endParaRPr lang="en-US" sz="1200" dirty="0"/>
          </a:p>
        </p:txBody>
      </p:sp>
      <p:sp>
        <p:nvSpPr>
          <p:cNvPr id="7" name="Flow INDE Dataset"/>
          <p:cNvSpPr/>
          <p:nvPr/>
        </p:nvSpPr>
        <p:spPr>
          <a:xfrm>
            <a:off x="457200" y="1709928"/>
            <a:ext cx="1463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con flow Dataset bg"/>
          <p:cNvSpPr/>
          <p:nvPr/>
        </p:nvSpPr>
        <p:spPr>
          <a:xfrm>
            <a:off x="548640" y="1819656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 flow Dataset" descr="Icon flow Data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1906524"/>
            <a:ext cx="173736" cy="1737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0120" y="1819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225856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2,930 real + 7,070 synthetic</a:t>
            </a:r>
            <a:endParaRPr lang="en-US" sz="1200" dirty="0"/>
          </a:p>
        </p:txBody>
      </p:sp>
      <p:sp>
        <p:nvSpPr>
          <p:cNvPr id="12" name="Flow arrow 00"/>
          <p:cNvSpPr/>
          <p:nvPr/>
        </p:nvSpPr>
        <p:spPr>
          <a:xfrm>
            <a:off x="1947672" y="2212848"/>
            <a:ext cx="173736" cy="1828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3" name="Flow INDE Preprocess"/>
          <p:cNvSpPr/>
          <p:nvPr/>
        </p:nvSpPr>
        <p:spPr>
          <a:xfrm>
            <a:off x="2148840" y="1709928"/>
            <a:ext cx="1463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 flow Preprocess bg"/>
          <p:cNvSpPr/>
          <p:nvPr/>
        </p:nvSpPr>
        <p:spPr>
          <a:xfrm>
            <a:off x="2240280" y="1819656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 flow Preprocess" descr="Icon flow Preproc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7148" y="1906524"/>
            <a:ext cx="173736" cy="17373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651760" y="1819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2240280" y="225856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fields, derived features</a:t>
            </a:r>
            <a:endParaRPr lang="en-US" sz="1200" dirty="0"/>
          </a:p>
        </p:txBody>
      </p:sp>
      <p:sp>
        <p:nvSpPr>
          <p:cNvPr id="18" name="Flow arrow 01"/>
          <p:cNvSpPr/>
          <p:nvPr/>
        </p:nvSpPr>
        <p:spPr>
          <a:xfrm>
            <a:off x="3639312" y="2212848"/>
            <a:ext cx="173736" cy="1828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9" name="Flow INDE Chunk"/>
          <p:cNvSpPr/>
          <p:nvPr/>
        </p:nvSpPr>
        <p:spPr>
          <a:xfrm>
            <a:off x="3840480" y="1709928"/>
            <a:ext cx="1463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Icon flow Chunk bg"/>
          <p:cNvSpPr/>
          <p:nvPr/>
        </p:nvSpPr>
        <p:spPr>
          <a:xfrm>
            <a:off x="3931920" y="1819656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 flow Chunk" descr="Icon flow Chu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8788" y="1906524"/>
            <a:ext cx="173736" cy="1737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343400" y="1819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3931920" y="225856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property = 1 document</a:t>
            </a:r>
            <a:endParaRPr lang="en-US" sz="1200" dirty="0"/>
          </a:p>
        </p:txBody>
      </p:sp>
      <p:sp>
        <p:nvSpPr>
          <p:cNvPr id="24" name="Flow arrow 02"/>
          <p:cNvSpPr/>
          <p:nvPr/>
        </p:nvSpPr>
        <p:spPr>
          <a:xfrm>
            <a:off x="5330952" y="2212848"/>
            <a:ext cx="173736" cy="1828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5" name="Flow INDE Embed"/>
          <p:cNvSpPr/>
          <p:nvPr/>
        </p:nvSpPr>
        <p:spPr>
          <a:xfrm>
            <a:off x="5532120" y="1709928"/>
            <a:ext cx="1463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Icon flow Embed bg"/>
          <p:cNvSpPr/>
          <p:nvPr/>
        </p:nvSpPr>
        <p:spPr>
          <a:xfrm>
            <a:off x="5623560" y="1819656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 flow Embed" descr="Icon flow Emb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0428" y="1906524"/>
            <a:ext cx="173736" cy="17373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035040" y="1819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623560" y="225856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384-d MiniLM vectors</a:t>
            </a:r>
            <a:endParaRPr lang="en-US" sz="1200" dirty="0"/>
          </a:p>
        </p:txBody>
      </p:sp>
      <p:sp>
        <p:nvSpPr>
          <p:cNvPr id="30" name="Flow arrow 03"/>
          <p:cNvSpPr/>
          <p:nvPr/>
        </p:nvSpPr>
        <p:spPr>
          <a:xfrm>
            <a:off x="7022592" y="2212848"/>
            <a:ext cx="173736" cy="1828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1" name="Flow INDE Index"/>
          <p:cNvSpPr/>
          <p:nvPr/>
        </p:nvSpPr>
        <p:spPr>
          <a:xfrm>
            <a:off x="7223760" y="1709928"/>
            <a:ext cx="1463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Icon flow Index bg"/>
          <p:cNvSpPr/>
          <p:nvPr/>
        </p:nvSpPr>
        <p:spPr>
          <a:xfrm>
            <a:off x="7315200" y="1819656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3" name="Icon flow Index" descr="Icon flow Inde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2068" y="1906524"/>
            <a:ext cx="173736" cy="17373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726680" y="1819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0" y="225856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× 384 in memory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2743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 ·  PER REQUEST</a:t>
            </a:r>
            <a:endParaRPr lang="en-US" sz="1200" dirty="0"/>
          </a:p>
        </p:txBody>
      </p:sp>
      <p:sp>
        <p:nvSpPr>
          <p:cNvPr id="37" name="Flow VALU Input"/>
          <p:cNvSpPr/>
          <p:nvPr/>
        </p:nvSpPr>
        <p:spPr>
          <a:xfrm>
            <a:off x="457200" y="3035808"/>
            <a:ext cx="1463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8" name="Icon flow Input bg"/>
          <p:cNvSpPr/>
          <p:nvPr/>
        </p:nvSpPr>
        <p:spPr>
          <a:xfrm>
            <a:off x="548640" y="3145536"/>
            <a:ext cx="347472" cy="34747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9" name="Icon flow Input" descr="Icon flow Inpu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" y="3232404"/>
            <a:ext cx="173736" cy="173736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60120" y="31455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400" dirty="0"/>
          </a:p>
        </p:txBody>
      </p:sp>
      <p:sp>
        <p:nvSpPr>
          <p:cNvPr id="41" name="Text 32"/>
          <p:cNvSpPr txBox="1"/>
          <p:nvPr/>
        </p:nvSpPr>
        <p:spPr>
          <a:xfrm>
            <a:off x="548640" y="358444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14-field property form</a:t>
            </a:r>
            <a:endParaRPr lang="en-US" sz="1200" dirty="0"/>
          </a:p>
        </p:txBody>
      </p:sp>
      <p:sp>
        <p:nvSpPr>
          <p:cNvPr id="42" name="Flow arrow 10"/>
          <p:cNvSpPr/>
          <p:nvPr/>
        </p:nvSpPr>
        <p:spPr>
          <a:xfrm>
            <a:off x="1947672" y="3538728"/>
            <a:ext cx="173736" cy="1828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43" name="Flow VALU Guardrails"/>
          <p:cNvSpPr/>
          <p:nvPr/>
        </p:nvSpPr>
        <p:spPr>
          <a:xfrm>
            <a:off x="2148840" y="3035808"/>
            <a:ext cx="1463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Icon flow Guardrails bg"/>
          <p:cNvSpPr/>
          <p:nvPr/>
        </p:nvSpPr>
        <p:spPr>
          <a:xfrm>
            <a:off x="2240280" y="3145536"/>
            <a:ext cx="347472" cy="34747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5" name="Icon flow Guardrails" descr="Icon flow Guardrail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7148" y="3232404"/>
            <a:ext cx="173736" cy="173736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2651760" y="31455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47" name="Text 37"/>
          <p:cNvSpPr txBox="1"/>
          <p:nvPr/>
        </p:nvSpPr>
        <p:spPr>
          <a:xfrm>
            <a:off x="2240280" y="358444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block injection</a:t>
            </a:r>
            <a:endParaRPr lang="en-US" sz="1200" dirty="0"/>
          </a:p>
        </p:txBody>
      </p:sp>
      <p:sp>
        <p:nvSpPr>
          <p:cNvPr id="48" name="Flow arrow 11"/>
          <p:cNvSpPr/>
          <p:nvPr/>
        </p:nvSpPr>
        <p:spPr>
          <a:xfrm>
            <a:off x="3639312" y="3538728"/>
            <a:ext cx="173736" cy="1828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49" name="Flow VALU Retrieve"/>
          <p:cNvSpPr/>
          <p:nvPr/>
        </p:nvSpPr>
        <p:spPr>
          <a:xfrm>
            <a:off x="3840480" y="3035808"/>
            <a:ext cx="1463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0" name="Icon flow Retrieve bg"/>
          <p:cNvSpPr/>
          <p:nvPr/>
        </p:nvSpPr>
        <p:spPr>
          <a:xfrm>
            <a:off x="3931920" y="3145536"/>
            <a:ext cx="347472" cy="34747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1" name="Icon flow Retrieve" descr="Icon flow Retriev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8788" y="3232404"/>
            <a:ext cx="173736" cy="173736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4343400" y="31455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400" dirty="0"/>
          </a:p>
        </p:txBody>
      </p:sp>
      <p:sp>
        <p:nvSpPr>
          <p:cNvPr id="53" name="Text 42"/>
          <p:cNvSpPr txBox="1"/>
          <p:nvPr/>
        </p:nvSpPr>
        <p:spPr>
          <a:xfrm>
            <a:off x="3931920" y="358444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TF-IDF comps</a:t>
            </a:r>
            <a:endParaRPr lang="en-US" sz="1200" dirty="0"/>
          </a:p>
        </p:txBody>
      </p:sp>
      <p:sp>
        <p:nvSpPr>
          <p:cNvPr id="54" name="Flow arrow 12"/>
          <p:cNvSpPr/>
          <p:nvPr/>
        </p:nvSpPr>
        <p:spPr>
          <a:xfrm>
            <a:off x="5330952" y="3538728"/>
            <a:ext cx="173736" cy="1828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55" name="Flow VALU Agents + ML"/>
          <p:cNvSpPr/>
          <p:nvPr/>
        </p:nvSpPr>
        <p:spPr>
          <a:xfrm>
            <a:off x="5532120" y="3035808"/>
            <a:ext cx="1463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6" name="Icon flow Agents + ML bg"/>
          <p:cNvSpPr/>
          <p:nvPr/>
        </p:nvSpPr>
        <p:spPr>
          <a:xfrm>
            <a:off x="5623560" y="3145536"/>
            <a:ext cx="347472" cy="34747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7" name="Icon flow Agents + ML" descr="Icon flow Agents + M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0428" y="3232404"/>
            <a:ext cx="173736" cy="173736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6035040" y="31455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+ ML</a:t>
            </a:r>
            <a:endParaRPr lang="en-US" sz="1400" dirty="0"/>
          </a:p>
        </p:txBody>
      </p:sp>
      <p:sp>
        <p:nvSpPr>
          <p:cNvPr id="59" name="Text 47"/>
          <p:cNvSpPr txBox="1"/>
          <p:nvPr/>
        </p:nvSpPr>
        <p:spPr>
          <a:xfrm>
            <a:off x="5623560" y="358444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Blend, risk, judge</a:t>
            </a:r>
            <a:endParaRPr lang="en-US" sz="1200" dirty="0"/>
          </a:p>
        </p:txBody>
      </p:sp>
      <p:sp>
        <p:nvSpPr>
          <p:cNvPr id="60" name="Flow arrow 13"/>
          <p:cNvSpPr/>
          <p:nvPr/>
        </p:nvSpPr>
        <p:spPr>
          <a:xfrm>
            <a:off x="7022592" y="3538728"/>
            <a:ext cx="173736" cy="1828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61" name="Flow VALU Dossier"/>
          <p:cNvSpPr/>
          <p:nvPr/>
        </p:nvSpPr>
        <p:spPr>
          <a:xfrm>
            <a:off x="7223760" y="3035808"/>
            <a:ext cx="1463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2" name="Icon flow Dossier bg"/>
          <p:cNvSpPr/>
          <p:nvPr/>
        </p:nvSpPr>
        <p:spPr>
          <a:xfrm>
            <a:off x="7315200" y="3145536"/>
            <a:ext cx="347472" cy="34747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3" name="Icon flow Dossier" descr="Icon flow Dossi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02068" y="3232404"/>
            <a:ext cx="173736" cy="173736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7726680" y="31455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</a:t>
            </a:r>
            <a:endParaRPr lang="en-US" sz="1400" dirty="0"/>
          </a:p>
        </p:txBody>
      </p:sp>
      <p:sp>
        <p:nvSpPr>
          <p:cNvPr id="65" name="Text 52"/>
          <p:cNvSpPr txBox="1"/>
          <p:nvPr/>
        </p:nvSpPr>
        <p:spPr>
          <a:xfrm>
            <a:off x="7315200" y="358444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Value, range, rationale</a:t>
            </a:r>
            <a:endParaRPr lang="en-US" sz="1200" dirty="0"/>
          </a:p>
        </p:txBody>
      </p:sp>
      <p:sp>
        <p:nvSpPr>
          <p:cNvPr id="66" name="Text 53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uses 586 real sales only; comparable search excludes synthetic records.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Local-first: embeddings run offline, the LLM is optional</a:t>
            </a:r>
            <a:endParaRPr lang="en-US" sz="1600" dirty="0"/>
          </a:p>
        </p:txBody>
      </p:sp>
      <p:sp>
        <p:nvSpPr>
          <p:cNvPr id="6" name="Stack Backend"/>
          <p:cNvSpPr/>
          <p:nvPr/>
        </p:nvSpPr>
        <p:spPr>
          <a:xfrm>
            <a:off x="457200" y="150876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Icon Backend bg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con Backend" descr="Icon Back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0594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22860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Pydantic, OpenAPI docs</a:t>
            </a:r>
            <a:endParaRPr lang="en-US" sz="1400" dirty="0"/>
          </a:p>
        </p:txBody>
      </p:sp>
      <p:sp>
        <p:nvSpPr>
          <p:cNvPr id="11" name="Stack ML"/>
          <p:cNvSpPr/>
          <p:nvPr/>
        </p:nvSpPr>
        <p:spPr>
          <a:xfrm>
            <a:off x="3246120" y="150876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Icon ML bg"/>
          <p:cNvSpPr/>
          <p:nvPr/>
        </p:nvSpPr>
        <p:spPr>
          <a:xfrm>
            <a:off x="3429000" y="16916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Icon ML" descr="Icon 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80594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3429000" y="22860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GradientBoosting</a:t>
            </a:r>
            <a:endParaRPr lang="en-US" sz="1400" dirty="0"/>
          </a:p>
        </p:txBody>
      </p:sp>
      <p:sp>
        <p:nvSpPr>
          <p:cNvPr id="16" name="Stack Retrieval"/>
          <p:cNvSpPr/>
          <p:nvPr/>
        </p:nvSpPr>
        <p:spPr>
          <a:xfrm>
            <a:off x="6035040" y="150876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Icon Retrieval bg"/>
          <p:cNvSpPr/>
          <p:nvPr/>
        </p:nvSpPr>
        <p:spPr>
          <a:xfrm>
            <a:off x="6217920" y="16916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con Retrieval" descr="Icon Retriev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8059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6217920" y="22860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all-MiniLM-L6-v2, TF-IDF, NumPy cosine</a:t>
            </a:r>
            <a:endParaRPr lang="en-US" sz="1400" dirty="0"/>
          </a:p>
        </p:txBody>
      </p:sp>
      <p:sp>
        <p:nvSpPr>
          <p:cNvPr id="21" name="Stack LLM"/>
          <p:cNvSpPr/>
          <p:nvPr/>
        </p:nvSpPr>
        <p:spPr>
          <a:xfrm>
            <a:off x="457200" y="315468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Icon LLM bg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con LLM" descr="Icon LL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45186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234440" y="33375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gpt-4o-mini, heuristic fallback</a:t>
            </a:r>
            <a:endParaRPr lang="en-US" sz="1400" dirty="0"/>
          </a:p>
        </p:txBody>
      </p:sp>
      <p:sp>
        <p:nvSpPr>
          <p:cNvPr id="26" name="Stack Frontend"/>
          <p:cNvSpPr/>
          <p:nvPr/>
        </p:nvSpPr>
        <p:spPr>
          <a:xfrm>
            <a:off x="3246120" y="315468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Icon Frontend bg"/>
          <p:cNvSpPr/>
          <p:nvPr/>
        </p:nvSpPr>
        <p:spPr>
          <a:xfrm>
            <a:off x="3429000" y="333756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8" name="Icon Frontend" descr="Icon Front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300" y="345186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023360" y="33375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800" dirty="0"/>
          </a:p>
        </p:txBody>
      </p:sp>
      <p:sp>
        <p:nvSpPr>
          <p:cNvPr id="30" name="Text 22"/>
          <p:cNvSpPr txBox="1"/>
          <p:nvPr/>
        </p:nvSpPr>
        <p:spPr>
          <a:xfrm>
            <a:off x="3429000" y="39319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Vite, light/dark theme</a:t>
            </a:r>
            <a:endParaRPr lang="en-US" sz="1400" dirty="0"/>
          </a:p>
        </p:txBody>
      </p:sp>
      <p:sp>
        <p:nvSpPr>
          <p:cNvPr id="31" name="Stack Quality"/>
          <p:cNvSpPr/>
          <p:nvPr/>
        </p:nvSpPr>
        <p:spPr>
          <a:xfrm>
            <a:off x="6035040" y="315468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Icon Quality bg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3" name="Icon Quality" descr="Icon Qualit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20" y="3451860"/>
            <a:ext cx="228600" cy="22860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6812280" y="33375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800" dirty="0"/>
          </a:p>
        </p:txBody>
      </p:sp>
      <p:sp>
        <p:nvSpPr>
          <p:cNvPr id="35" name="Text 26"/>
          <p:cNvSpPr txBox="1"/>
          <p:nvPr/>
        </p:nvSpPr>
        <p:spPr>
          <a:xfrm>
            <a:off x="6217920" y="39319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4.2.8, 36 pytest tests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WORKFLOW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agents, one audited answer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a single decision; the judge signs off at the end</a:t>
            </a:r>
            <a:endParaRPr lang="en-US" sz="1600" dirty="0"/>
          </a:p>
        </p:txBody>
      </p:sp>
      <p:sp>
        <p:nvSpPr>
          <p:cNvPr id="6" name="Agent Guardrail"/>
          <p:cNvSpPr/>
          <p:nvPr/>
        </p:nvSpPr>
        <p:spPr>
          <a:xfrm>
            <a:off x="457200" y="1508760"/>
            <a:ext cx="1280160" cy="187452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tep number bg 1"/>
          <p:cNvSpPr/>
          <p:nvPr/>
        </p:nvSpPr>
        <p:spPr>
          <a:xfrm>
            <a:off x="548640" y="161848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18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57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395728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range checks, prompt-injection defence</a:t>
            </a:r>
            <a:endParaRPr lang="en-US" sz="1200" dirty="0"/>
          </a:p>
        </p:txBody>
      </p:sp>
      <p:sp>
        <p:nvSpPr>
          <p:cNvPr id="11" name="Agent Classify"/>
          <p:cNvSpPr/>
          <p:nvPr/>
        </p:nvSpPr>
        <p:spPr>
          <a:xfrm>
            <a:off x="1856232" y="1508760"/>
            <a:ext cx="1280160" cy="187452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tep number bg 2"/>
          <p:cNvSpPr/>
          <p:nvPr/>
        </p:nvSpPr>
        <p:spPr>
          <a:xfrm>
            <a:off x="1947672" y="161848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947672" y="1618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947672" y="2057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947672" y="2395728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tier, typology, condition</a:t>
            </a:r>
            <a:endParaRPr lang="en-US" sz="1200" dirty="0"/>
          </a:p>
        </p:txBody>
      </p:sp>
      <p:sp>
        <p:nvSpPr>
          <p:cNvPr id="16" name="Agent Value"/>
          <p:cNvSpPr/>
          <p:nvPr/>
        </p:nvSpPr>
        <p:spPr>
          <a:xfrm>
            <a:off x="3255264" y="1508760"/>
            <a:ext cx="1280160" cy="187452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tep number bg 3"/>
          <p:cNvSpPr/>
          <p:nvPr/>
        </p:nvSpPr>
        <p:spPr>
          <a:xfrm>
            <a:off x="3346704" y="161848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346704" y="1618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346704" y="2057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3346704" y="2395728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comp price and size-weighted PPSF</a:t>
            </a:r>
            <a:endParaRPr lang="en-US" sz="1200" dirty="0"/>
          </a:p>
        </p:txBody>
      </p:sp>
      <p:sp>
        <p:nvSpPr>
          <p:cNvPr id="21" name="Agent Reconcile"/>
          <p:cNvSpPr/>
          <p:nvPr/>
        </p:nvSpPr>
        <p:spPr>
          <a:xfrm>
            <a:off x="4654296" y="1508760"/>
            <a:ext cx="1280160" cy="187452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tep number bg 4"/>
          <p:cNvSpPr/>
          <p:nvPr/>
        </p:nvSpPr>
        <p:spPr>
          <a:xfrm>
            <a:off x="4745736" y="161848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745736" y="1618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745736" y="2057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745736" y="2395728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comps with ML by comp_fit</a:t>
            </a:r>
            <a:endParaRPr lang="en-US" sz="1200" dirty="0"/>
          </a:p>
        </p:txBody>
      </p:sp>
      <p:sp>
        <p:nvSpPr>
          <p:cNvPr id="26" name="Agent Risk"/>
          <p:cNvSpPr/>
          <p:nvPr/>
        </p:nvSpPr>
        <p:spPr>
          <a:xfrm>
            <a:off x="6053328" y="1508760"/>
            <a:ext cx="1280160" cy="187452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tep number bg 5"/>
          <p:cNvSpPr/>
          <p:nvPr/>
        </p:nvSpPr>
        <p:spPr>
          <a:xfrm>
            <a:off x="6144768" y="161848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144768" y="1618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2057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2395728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 index across 4 factors</a:t>
            </a:r>
            <a:endParaRPr lang="en-US" sz="1200" dirty="0"/>
          </a:p>
        </p:txBody>
      </p:sp>
      <p:sp>
        <p:nvSpPr>
          <p:cNvPr id="31" name="Agent Judge"/>
          <p:cNvSpPr/>
          <p:nvPr/>
        </p:nvSpPr>
        <p:spPr>
          <a:xfrm>
            <a:off x="7452360" y="1508760"/>
            <a:ext cx="1280160" cy="187452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tep number bg 6"/>
          <p:cNvSpPr/>
          <p:nvPr/>
        </p:nvSpPr>
        <p:spPr>
          <a:xfrm>
            <a:off x="7543800" y="161848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543800" y="1618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543800" y="2057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7543800" y="2395728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against comps and ML bounds</a:t>
            </a:r>
            <a:endParaRPr lang="en-US" sz="1200" dirty="0"/>
          </a:p>
        </p:txBody>
      </p:sp>
      <p:sp>
        <p:nvSpPr>
          <p:cNvPr id="36" name="Weights callout"/>
          <p:cNvSpPr/>
          <p:nvPr/>
        </p:nvSpPr>
        <p:spPr>
          <a:xfrm>
            <a:off x="457200" y="3657600"/>
            <a:ext cx="402336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40080" y="36576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comp_weight 0.1–0.5
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ml_weight 0.5–0.9, set per request</a:t>
            </a:r>
            <a:endParaRPr lang="en-US" sz="1400" dirty="0"/>
          </a:p>
        </p:txBody>
      </p:sp>
      <p:sp>
        <p:nvSpPr>
          <p:cNvPr id="38" name="Feedback callout"/>
          <p:cNvSpPr/>
          <p:nvPr/>
        </p:nvSpPr>
        <p:spPr>
          <a:xfrm>
            <a:off x="4663440" y="3657600"/>
            <a:ext cx="402336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4846320" y="36576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
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Appraiser closing prices recalibrate bias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RESULTS  ·  ML MODEL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explains 92% of price variance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586 real, unseen sales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37160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Metric Test R²"/>
          <p:cNvSpPr/>
          <p:nvPr/>
        </p:nvSpPr>
        <p:spPr>
          <a:xfrm>
            <a:off x="5212080" y="1463040"/>
            <a:ext cx="34747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5394960" y="14630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0.9198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7132320" y="14630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
</a:t>
            </a:r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0.9031</a:t>
            </a:r>
            <a:endParaRPr lang="en-US" sz="1400" dirty="0"/>
          </a:p>
        </p:txBody>
      </p:sp>
      <p:sp>
        <p:nvSpPr>
          <p:cNvPr id="10" name="Metric RMSE"/>
          <p:cNvSpPr/>
          <p:nvPr/>
        </p:nvSpPr>
        <p:spPr>
          <a:xfrm>
            <a:off x="5212080" y="2514600"/>
            <a:ext cx="34747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394960" y="2514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$25,362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7132320" y="25146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
</a:t>
            </a:r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$16,162</a:t>
            </a:r>
            <a:endParaRPr lang="en-US" sz="1400" dirty="0"/>
          </a:p>
        </p:txBody>
      </p:sp>
      <p:sp>
        <p:nvSpPr>
          <p:cNvPr id="13" name="Metric MAPE"/>
          <p:cNvSpPr/>
          <p:nvPr/>
        </p:nvSpPr>
        <p:spPr>
          <a:xfrm>
            <a:off x="5212080" y="3566160"/>
            <a:ext cx="34747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394960" y="35661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8.87%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35661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
</a:t>
            </a:r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intervals from residuals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RESULTS  ·  DEEPEVAL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DeepEval: 5 of 5 scenarios passed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LLM-judge run, 61.98 s, five curated appraisal scenarios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37160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ass panel"/>
          <p:cNvSpPr/>
          <p:nvPr/>
        </p:nvSpPr>
        <p:spPr>
          <a:xfrm>
            <a:off x="5943600" y="1463040"/>
            <a:ext cx="2743200" cy="31089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5943600" y="1691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5943600" y="2514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126480" y="32918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C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pytest tests also passing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seven tabs, one property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property once; every tab reuses it</a:t>
            </a:r>
            <a:endParaRPr lang="en-US" sz="1600" dirty="0"/>
          </a:p>
        </p:txBody>
      </p:sp>
      <p:sp>
        <p:nvSpPr>
          <p:cNvPr id="6" name="Demo Valuation"/>
          <p:cNvSpPr/>
          <p:nvPr/>
        </p:nvSpPr>
        <p:spPr>
          <a:xfrm>
            <a:off x="457200" y="1508760"/>
            <a:ext cx="1920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ab number bg 1"/>
          <p:cNvSpPr/>
          <p:nvPr/>
        </p:nvSpPr>
        <p:spPr>
          <a:xfrm>
            <a:off x="594360" y="164592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9436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16459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48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bar and plain-English rationale</a:t>
            </a:r>
            <a:endParaRPr lang="en-US" sz="1400" dirty="0"/>
          </a:p>
        </p:txBody>
      </p:sp>
      <p:sp>
        <p:nvSpPr>
          <p:cNvPr id="11" name="Demo Comps"/>
          <p:cNvSpPr/>
          <p:nvPr/>
        </p:nvSpPr>
        <p:spPr>
          <a:xfrm>
            <a:off x="2542032" y="1508760"/>
            <a:ext cx="1920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ab number bg 2"/>
          <p:cNvSpPr/>
          <p:nvPr/>
        </p:nvSpPr>
        <p:spPr>
          <a:xfrm>
            <a:off x="2679192" y="164592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67919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136392" y="16459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679192" y="2148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historical sales, ranked</a:t>
            </a:r>
            <a:endParaRPr lang="en-US" sz="1400" dirty="0"/>
          </a:p>
        </p:txBody>
      </p:sp>
      <p:sp>
        <p:nvSpPr>
          <p:cNvPr id="16" name="Demo ML"/>
          <p:cNvSpPr/>
          <p:nvPr/>
        </p:nvSpPr>
        <p:spPr>
          <a:xfrm>
            <a:off x="4626864" y="1508760"/>
            <a:ext cx="1920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ab number bg 3"/>
          <p:cNvSpPr/>
          <p:nvPr/>
        </p:nvSpPr>
        <p:spPr>
          <a:xfrm>
            <a:off x="4764024" y="164592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764024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1224" y="16459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4764024" y="2148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estimate with 90% interval</a:t>
            </a:r>
            <a:endParaRPr lang="en-US" sz="1400" dirty="0"/>
          </a:p>
        </p:txBody>
      </p:sp>
      <p:sp>
        <p:nvSpPr>
          <p:cNvPr id="21" name="Demo What-If"/>
          <p:cNvSpPr/>
          <p:nvPr/>
        </p:nvSpPr>
        <p:spPr>
          <a:xfrm>
            <a:off x="6711696" y="1508760"/>
            <a:ext cx="1920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ab number bg 4"/>
          <p:cNvSpPr/>
          <p:nvPr/>
        </p:nvSpPr>
        <p:spPr>
          <a:xfrm>
            <a:off x="6848856" y="164592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48856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306056" y="16459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848856" y="2148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 value lift, live</a:t>
            </a:r>
            <a:endParaRPr lang="en-US" sz="1400" dirty="0"/>
          </a:p>
        </p:txBody>
      </p:sp>
      <p:sp>
        <p:nvSpPr>
          <p:cNvPr id="26" name="Demo Risk &amp; Audit"/>
          <p:cNvSpPr/>
          <p:nvPr/>
        </p:nvSpPr>
        <p:spPr>
          <a:xfrm>
            <a:off x="457200" y="3108960"/>
            <a:ext cx="1920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ab number bg 5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1051560" y="32461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Audit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37490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 risk and judge verdict</a:t>
            </a:r>
            <a:endParaRPr lang="en-US" sz="1400" dirty="0"/>
          </a:p>
        </p:txBody>
      </p:sp>
      <p:sp>
        <p:nvSpPr>
          <p:cNvPr id="31" name="Demo Feedback"/>
          <p:cNvSpPr/>
          <p:nvPr/>
        </p:nvSpPr>
        <p:spPr>
          <a:xfrm>
            <a:off x="2542032" y="3108960"/>
            <a:ext cx="1920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ab number bg 6"/>
          <p:cNvSpPr/>
          <p:nvPr/>
        </p:nvSpPr>
        <p:spPr>
          <a:xfrm>
            <a:off x="2679192" y="324612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679192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136392" y="32461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2679192" y="37490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 closing price</a:t>
            </a:r>
            <a:endParaRPr lang="en-US" sz="1400" dirty="0"/>
          </a:p>
        </p:txBody>
      </p:sp>
      <p:sp>
        <p:nvSpPr>
          <p:cNvPr id="36" name="Demo Evaluation"/>
          <p:cNvSpPr/>
          <p:nvPr/>
        </p:nvSpPr>
        <p:spPr>
          <a:xfrm>
            <a:off x="4626864" y="3108960"/>
            <a:ext cx="1920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ab number bg 7"/>
          <p:cNvSpPr/>
          <p:nvPr/>
        </p:nvSpPr>
        <p:spPr>
          <a:xfrm>
            <a:off x="4764024" y="324612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64024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221224" y="32461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764024" y="37490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DeepEval benchmark</a:t>
            </a:r>
            <a:endParaRPr lang="en-US" sz="1400" dirty="0"/>
          </a:p>
        </p:txBody>
      </p:sp>
      <p:sp>
        <p:nvSpPr>
          <p:cNvPr id="41" name="Demo tip"/>
          <p:cNvSpPr/>
          <p:nvPr/>
        </p:nvSpPr>
        <p:spPr>
          <a:xfrm>
            <a:off x="6711696" y="3108960"/>
            <a:ext cx="1920240" cy="1417320"/>
          </a:xfrm>
          <a:prstGeom prst="roundRect">
            <a:avLst>
              <a:gd name="adj" fmla="val 645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848856" y="31089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risky property in tab 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AND LEARNINGS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and what we learned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places where the obvious approach would have misled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1200" dirty="0"/>
          </a:p>
        </p:txBody>
      </p:sp>
      <p:sp>
        <p:nvSpPr>
          <p:cNvPr id="8" name="Challenge 1"/>
          <p:cNvSpPr/>
          <p:nvPr/>
        </p:nvSpPr>
        <p:spPr>
          <a:xfrm>
            <a:off x="457200" y="1737360"/>
            <a:ext cx="411480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080" y="1737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could inflate scores</a:t>
            </a:r>
            <a:endParaRPr lang="en-US" sz="1400" dirty="0"/>
          </a:p>
        </p:txBody>
      </p:sp>
      <p:sp>
        <p:nvSpPr>
          <p:cNvPr id="10" name="Arrow 0"/>
          <p:cNvSpPr/>
          <p:nvPr/>
        </p:nvSpPr>
        <p:spPr>
          <a:xfrm>
            <a:off x="4645152" y="1956816"/>
            <a:ext cx="155448" cy="201168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1" name="Fix 1"/>
          <p:cNvSpPr/>
          <p:nvPr/>
        </p:nvSpPr>
        <p:spPr>
          <a:xfrm>
            <a:off x="4873752" y="1737360"/>
            <a:ext cx="3813048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029200" y="17373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Real-only test set and a novelty-distance filter</a:t>
            </a:r>
            <a:endParaRPr lang="en-US" sz="1400" dirty="0"/>
          </a:p>
        </p:txBody>
      </p:sp>
      <p:sp>
        <p:nvSpPr>
          <p:cNvPr id="13" name="Challenge 2"/>
          <p:cNvSpPr/>
          <p:nvPr/>
        </p:nvSpPr>
        <p:spPr>
          <a:xfrm>
            <a:off x="457200" y="2468880"/>
            <a:ext cx="411480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0080" y="24688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scoring silently dropped candidates</a:t>
            </a:r>
            <a:endParaRPr lang="en-US" sz="1400" dirty="0"/>
          </a:p>
        </p:txBody>
      </p:sp>
      <p:sp>
        <p:nvSpPr>
          <p:cNvPr id="15" name="Arrow 1"/>
          <p:cNvSpPr/>
          <p:nvPr/>
        </p:nvSpPr>
        <p:spPr>
          <a:xfrm>
            <a:off x="4645152" y="2688336"/>
            <a:ext cx="155448" cy="201168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6" name="Fix 2"/>
          <p:cNvSpPr/>
          <p:nvPr/>
        </p:nvSpPr>
        <p:spPr>
          <a:xfrm>
            <a:off x="4873752" y="2468880"/>
            <a:ext cx="3813048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029200" y="2468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now scores the full filtered candidate set</a:t>
            </a:r>
            <a:endParaRPr lang="en-US" sz="1400" dirty="0"/>
          </a:p>
        </p:txBody>
      </p:sp>
      <p:sp>
        <p:nvSpPr>
          <p:cNvPr id="18" name="Challenge 3"/>
          <p:cNvSpPr/>
          <p:nvPr/>
        </p:nvSpPr>
        <p:spPr>
          <a:xfrm>
            <a:off x="457200" y="3200400"/>
            <a:ext cx="411480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40080" y="32004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neighbourhoods have too few comps</a:t>
            </a:r>
            <a:endParaRPr lang="en-US" sz="1400" dirty="0"/>
          </a:p>
        </p:txBody>
      </p:sp>
      <p:sp>
        <p:nvSpPr>
          <p:cNvPr id="20" name="Arrow 2"/>
          <p:cNvSpPr/>
          <p:nvPr/>
        </p:nvSpPr>
        <p:spPr>
          <a:xfrm>
            <a:off x="4645152" y="3419856"/>
            <a:ext cx="155448" cy="201168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1" name="Fix 3"/>
          <p:cNvSpPr/>
          <p:nvPr/>
        </p:nvSpPr>
        <p:spPr>
          <a:xfrm>
            <a:off x="4873752" y="3200400"/>
            <a:ext cx="3813048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029200" y="3200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 citywide below 3 matches; never return unconstrained results</a:t>
            </a:r>
            <a:endParaRPr lang="en-US" sz="1400" dirty="0"/>
          </a:p>
        </p:txBody>
      </p:sp>
      <p:sp>
        <p:nvSpPr>
          <p:cNvPr id="23" name="Challenge 4"/>
          <p:cNvSpPr/>
          <p:nvPr/>
        </p:nvSpPr>
        <p:spPr>
          <a:xfrm>
            <a:off x="457200" y="3931920"/>
            <a:ext cx="411480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40080" y="39319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factors cancelled each other</a:t>
            </a:r>
            <a:endParaRPr lang="en-US" sz="1400" dirty="0"/>
          </a:p>
        </p:txBody>
      </p:sp>
      <p:sp>
        <p:nvSpPr>
          <p:cNvPr id="25" name="Arrow 3"/>
          <p:cNvSpPr/>
          <p:nvPr/>
        </p:nvSpPr>
        <p:spPr>
          <a:xfrm>
            <a:off x="4645152" y="4151376"/>
            <a:ext cx="155448" cy="201168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6" name="Fix 4"/>
          <p:cNvSpPr/>
          <p:nvPr/>
        </p:nvSpPr>
        <p:spPr>
          <a:xfrm>
            <a:off x="4873752" y="3931920"/>
            <a:ext cx="3813048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5029200" y="39319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tracked against the uncalibrated estimate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 Questions?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C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in the repository</a:t>
            </a:r>
            <a:endParaRPr lang="en-US" sz="1800" dirty="0"/>
          </a:p>
        </p:txBody>
      </p:sp>
      <p:sp>
        <p:nvSpPr>
          <p:cNvPr id="4" name="Deliverable Architecture diagram"/>
          <p:cNvSpPr/>
          <p:nvPr/>
        </p:nvSpPr>
        <p:spPr>
          <a:xfrm>
            <a:off x="548640" y="2286000"/>
            <a:ext cx="2560320" cy="548640"/>
          </a:xfrm>
          <a:prstGeom prst="roundRect">
            <a:avLst>
              <a:gd name="adj" fmla="val 16667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2286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1400" dirty="0"/>
          </a:p>
        </p:txBody>
      </p:sp>
      <p:sp>
        <p:nvSpPr>
          <p:cNvPr id="6" name="Deliverable Design document"/>
          <p:cNvSpPr/>
          <p:nvPr/>
        </p:nvSpPr>
        <p:spPr>
          <a:xfrm>
            <a:off x="3291840" y="2286000"/>
            <a:ext cx="2560320" cy="548640"/>
          </a:xfrm>
          <a:prstGeom prst="roundRect">
            <a:avLst>
              <a:gd name="adj" fmla="val 16667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2286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</a:t>
            </a:r>
            <a:endParaRPr lang="en-US" sz="1400" dirty="0"/>
          </a:p>
        </p:txBody>
      </p:sp>
      <p:sp>
        <p:nvSpPr>
          <p:cNvPr id="8" name="Deliverable API documentation"/>
          <p:cNvSpPr/>
          <p:nvPr/>
        </p:nvSpPr>
        <p:spPr>
          <a:xfrm>
            <a:off x="6035040" y="2286000"/>
            <a:ext cx="2560320" cy="548640"/>
          </a:xfrm>
          <a:prstGeom prst="roundRect">
            <a:avLst>
              <a:gd name="adj" fmla="val 16667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72200" y="2286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documentation</a:t>
            </a:r>
            <a:endParaRPr lang="en-US" sz="1400" dirty="0"/>
          </a:p>
        </p:txBody>
      </p:sp>
      <p:sp>
        <p:nvSpPr>
          <p:cNvPr id="10" name="Deliverable Dataset details"/>
          <p:cNvSpPr/>
          <p:nvPr/>
        </p:nvSpPr>
        <p:spPr>
          <a:xfrm>
            <a:off x="548640" y="2971800"/>
            <a:ext cx="2560320" cy="548640"/>
          </a:xfrm>
          <a:prstGeom prst="roundRect">
            <a:avLst>
              <a:gd name="adj" fmla="val 16667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971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details</a:t>
            </a:r>
            <a:endParaRPr lang="en-US" sz="1400" dirty="0"/>
          </a:p>
        </p:txBody>
      </p:sp>
      <p:sp>
        <p:nvSpPr>
          <p:cNvPr id="12" name="Deliverable Evaluation report"/>
          <p:cNvSpPr/>
          <p:nvPr/>
        </p:nvSpPr>
        <p:spPr>
          <a:xfrm>
            <a:off x="3291840" y="2971800"/>
            <a:ext cx="2560320" cy="548640"/>
          </a:xfrm>
          <a:prstGeom prst="roundRect">
            <a:avLst>
              <a:gd name="adj" fmla="val 16667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2971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report</a:t>
            </a:r>
            <a:endParaRPr lang="en-US" sz="1400" dirty="0"/>
          </a:p>
        </p:txBody>
      </p:sp>
      <p:sp>
        <p:nvSpPr>
          <p:cNvPr id="14" name="Deliverable Source, tests and slide deck"/>
          <p:cNvSpPr/>
          <p:nvPr/>
        </p:nvSpPr>
        <p:spPr>
          <a:xfrm>
            <a:off x="6035040" y="2971800"/>
            <a:ext cx="2560320" cy="548640"/>
          </a:xfrm>
          <a:prstGeom prst="roundRect">
            <a:avLst>
              <a:gd name="adj" fmla="val 16667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2971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tests and slide deck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Kunjal Ahuja  ·  Senior AI/ML Engineer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luation Teal">
  <a:themeElements>
    <a:clrScheme name="Valuation Teal">
      <a:dk1>
        <a:srgbClr val="10242B"/>
      </a:dk1>
      <a:lt1>
        <a:srgbClr val="FFFFFF"/>
      </a:lt1>
      <a:dk2>
        <a:srgbClr val="0B3C49"/>
      </a:dk2>
      <a:lt2>
        <a:srgbClr val="EEF3F3"/>
      </a:lt2>
      <a:accent1>
        <a:srgbClr val="0B3C49"/>
      </a:accent1>
      <a:accent2>
        <a:srgbClr val="E8A33D"/>
      </a:accent2>
      <a:accent3>
        <a:srgbClr val="2A9D8F"/>
      </a:accent3>
      <a:accent4>
        <a:srgbClr val="5C7C86"/>
      </a:accent4>
      <a:accent5>
        <a:srgbClr val="C8553D"/>
      </a:accent5>
      <a:accent6>
        <a:srgbClr val="A9C5C9"/>
      </a:accent6>
      <a:hlink>
        <a:srgbClr val="2A9D8F"/>
      </a:hlink>
      <a:folHlink>
        <a:srgbClr val="5C7C86"/>
      </a:folHlink>
    </a:clrScheme>
    <a:fontScheme name="Valuation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Real Estate Property Valuation Assistant</dc:title>
  <dc:subject>PptxGenJS Presentation</dc:subject>
  <dc:creator>Kunjal Ahuja</dc:creator>
  <cp:lastModifiedBy>Kunjal Ahuja</cp:lastModifiedBy>
  <cp:revision>1</cp:revision>
  <dcterms:created xsi:type="dcterms:W3CDTF">2026-10-12T08:44:19Z</dcterms:created>
  <dcterms:modified xsi:type="dcterms:W3CDTF">2026-10-12T08:44:19Z</dcterms:modified>
</cp:coreProperties>
</file>