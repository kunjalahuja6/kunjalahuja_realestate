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AI-Powered Real Estate Property Valuation Assistant</a:t>
            </a:r>
          </a:p>
          <a:p>
            <a:pPr>
              <a:defRPr sz="1800">
                <a:solidFill>
                  <a:srgbClr val="2563EB"/>
                </a:solidFill>
              </a:defRPr>
            </a:pPr>
            <a:r>
              <a:t>Prodapt Capstone Project • Autonomous Multi-Agent Valuation, Hybrid RAG &amp; DeepEval</a:t>
            </a:r>
          </a:p>
          <a:p>
            <a:br/>
            <a:pPr>
              <a:defRPr sz="1400">
                <a:solidFill>
                  <a:srgbClr val="64748B"/>
                </a:solidFill>
              </a:defRPr>
            </a:pPr>
            <a:r>
              <a:t>Presenter: Senior ML/Software Engineer • Panel Presentation (8 Min Demo + 2 Min Q&amp;A)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Problem Statement &amp; Business Need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Why Traditional Real Estate Appraisals Require GenAI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500">
                <a:solidFill>
                  <a:srgbClr val="1E3A8A"/>
                </a:solidFill>
              </a:defRPr>
            </a:pPr>
            <a:r>
              <a:t>• Manual Search Inefficiencies: </a:t>
            </a:r>
            <a:r>
              <a:rPr b="0">
                <a:solidFill>
                  <a:srgbClr val="1E293B"/>
                </a:solidFill>
              </a:rPr>
              <a:t>Real estate appraisers manually sift through thousands of historical transactions to identify comparable properties (CMA), a tedious and error-prone process.</a:t>
            </a:r>
          </a:p>
          <a:p>
            <a:pPr>
              <a:defRPr b="1" sz="1500">
                <a:solidFill>
                  <a:srgbClr val="1E3A8A"/>
                </a:solidFill>
              </a:defRPr>
            </a:pPr>
            <a:r>
              <a:t>• Subjectivity &amp; Valuation Inconsistency: </a:t>
            </a:r>
            <a:r>
              <a:rPr b="0">
                <a:solidFill>
                  <a:srgbClr val="1E293B"/>
                </a:solidFill>
              </a:rPr>
              <a:t>Traditional manual appraisals rely heavily on heuristic guesswork when adjusting for condition, age, and square footage differentials.</a:t>
            </a:r>
          </a:p>
          <a:p>
            <a:pPr>
              <a:defRPr b="1" sz="1500">
                <a:solidFill>
                  <a:srgbClr val="1E3A8A"/>
                </a:solidFill>
              </a:defRPr>
            </a:pPr>
            <a:r>
              <a:t>• Lack of Quantified Risk Scoring: </a:t>
            </a:r>
            <a:r>
              <a:rPr b="0">
                <a:solidFill>
                  <a:srgbClr val="1E293B"/>
                </a:solidFill>
              </a:rPr>
              <a:t>Properties with high deferred maintenance or neighborhood price volatility often suffer uncalibrated appraisal risk.</a:t>
            </a:r>
          </a:p>
          <a:p>
            <a:pPr>
              <a:defRPr b="1" sz="1500">
                <a:solidFill>
                  <a:srgbClr val="1E3A8A"/>
                </a:solidFill>
              </a:defRPr>
            </a:pPr>
            <a:r>
              <a:t>• Business Objective: </a:t>
            </a:r>
            <a:r>
              <a:rPr b="0">
                <a:solidFill>
                  <a:srgbClr val="1E293B"/>
                </a:solidFill>
              </a:rPr>
              <a:t>Build an autonomous multi-agent microservice that ingests natural language queries, executes hybrid keyword + dense retrieval, predicts price with ML (R² = 0.9031), assesses risk, and validates valuations via an independent LLM Judge.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Solution Overview &amp; High-Level Architecture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End-to-End Pipeline from Raw Housing Records to Executive Dossier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500">
                <a:solidFill>
                  <a:srgbClr val="2563EB"/>
                </a:solidFill>
              </a:defRPr>
            </a:pPr>
            <a:r>
              <a:t>• 1. Data Pipeline Layer: </a:t>
            </a:r>
            <a:r>
              <a:rPr b="0">
                <a:solidFill>
                  <a:srgbClr val="1E293B"/>
                </a:solidFill>
              </a:rPr>
              <a:t>Cleans Ames Housing Dataset (2,930 records), standardizes 15 key fields, maps 1-10 quality scales, and builds searchable text documents.</a:t>
            </a:r>
          </a:p>
          <a:p>
            <a:pPr>
              <a:defRPr b="1" sz="1500">
                <a:solidFill>
                  <a:srgbClr val="2563EB"/>
                </a:solidFill>
              </a:defRPr>
            </a:pPr>
            <a:r>
              <a:t>• 2. Hybrid Retrieval Engine: </a:t>
            </a:r>
            <a:r>
              <a:rPr b="0">
                <a:solidFill>
                  <a:srgbClr val="1E293B"/>
                </a:solidFill>
              </a:rPr>
              <a:t>Combines all-MiniLM-L6-v2 dense embeddings with TF-IDF keyword search, metadata filtering, and multi-factor comparable prioritization.</a:t>
            </a:r>
          </a:p>
          <a:p>
            <a:pPr>
              <a:defRPr b="1" sz="1500">
                <a:solidFill>
                  <a:srgbClr val="2563EB"/>
                </a:solidFill>
              </a:defRPr>
            </a:pPr>
            <a:r>
              <a:t>• 3. Supervised Predictive ML: </a:t>
            </a:r>
            <a:r>
              <a:rPr b="0">
                <a:solidFill>
                  <a:srgbClr val="1E293B"/>
                </a:solidFill>
              </a:rPr>
              <a:t>Trained Gradient Boosting and Random Forest regression models delivering 90% confidence prediction intervals (R² = 0.9031).</a:t>
            </a:r>
          </a:p>
          <a:p>
            <a:pPr>
              <a:defRPr b="1" sz="1500">
                <a:solidFill>
                  <a:srgbClr val="2563EB"/>
                </a:solidFill>
              </a:defRPr>
            </a:pPr>
            <a:r>
              <a:t>• 4. Multi-Agent Collaborative Core: </a:t>
            </a:r>
            <a:r>
              <a:rPr b="0">
                <a:solidFill>
                  <a:srgbClr val="1E293B"/>
                </a:solidFill>
              </a:rPr>
              <a:t>Autonomous collaboration across Guardrails, Classification, Basic Valuation, Risk Assessment, and LLM-as-Judge Auditor.</a:t>
            </a:r>
          </a:p>
          <a:p>
            <a:pPr>
              <a:defRPr b="1" sz="1500">
                <a:solidFill>
                  <a:srgbClr val="2563EB"/>
                </a:solidFill>
              </a:defRPr>
            </a:pPr>
            <a:r>
              <a:t>• 5. Microservice &amp; Presentation: </a:t>
            </a:r>
            <a:r>
              <a:rPr b="0">
                <a:solidFill>
                  <a:srgbClr val="1E293B"/>
                </a:solidFill>
              </a:rPr>
              <a:t>FastAPI REST backend with OpenAPI docs + Interactive Streamlit dashboard for real estate professionals.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Hybrid RAG &amp; Comparable Prioritization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Combining Dense Semantic Vectors, Lexical Matching &amp; Physical Comparability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500">
                <a:solidFill>
                  <a:srgbClr val="1E3A8A"/>
                </a:solidFill>
              </a:defRPr>
            </a:pPr>
            <a:r>
              <a:t>• Dense Vector Similarity: </a:t>
            </a:r>
            <a:r>
              <a:rPr b="0">
                <a:solidFill>
                  <a:srgbClr val="1E293B"/>
                </a:solidFill>
              </a:rPr>
              <a:t>384-dimensional normalized embeddings generated via all-MiniLM-L6-v2, cached locally for sub-5ms cosine retrieval.</a:t>
            </a:r>
          </a:p>
          <a:p>
            <a:pPr>
              <a:defRPr b="1" sz="1500">
                <a:solidFill>
                  <a:srgbClr val="1E3A8A"/>
                </a:solidFill>
              </a:defRPr>
            </a:pPr>
            <a:r>
              <a:t>• Lexical TF-IDF Search: </a:t>
            </a:r>
            <a:r>
              <a:rPr b="0">
                <a:solidFill>
                  <a:srgbClr val="1E293B"/>
                </a:solidFill>
              </a:rPr>
              <a:t>Captures exact keyword specifications (e.g. "3 bedroom", "CollgCr", "2 car garage", "remodeled 2005").</a:t>
            </a:r>
          </a:p>
          <a:p>
            <a:pPr>
              <a:defRPr b="1" sz="1500">
                <a:solidFill>
                  <a:srgbClr val="1E3A8A"/>
                </a:solidFill>
              </a:defRPr>
            </a:pPr>
            <a:r>
              <a:t>• Metadata Filtering: </a:t>
            </a:r>
            <a:r>
              <a:rPr b="0">
                <a:solidFill>
                  <a:srgbClr val="1E293B"/>
                </a:solidFill>
              </a:rPr>
              <a:t>Enforces physical boundaries on neighborhood, minimum bedrooms, age, and living area before vector scoring.</a:t>
            </a:r>
          </a:p>
          <a:p>
            <a:pPr>
              <a:defRPr b="1" sz="1500">
                <a:solidFill>
                  <a:srgbClr val="1E3A8A"/>
                </a:solidFill>
              </a:defRPr>
            </a:pPr>
            <a:r>
              <a:t>• Multi-Factor Prioritization Formula: </a:t>
            </a:r>
            <a:r>
              <a:rPr b="0">
                <a:solidFill>
                  <a:srgbClr val="1E293B"/>
                </a:solidFill>
              </a:rPr>
              <a:t>Weights location (30%), living area proximity (25%), architectural quality (20%), era/year built (15%), and bed/bath count (10%) to guarantee relevant comps.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Autonomous Multi-Agent Collaboration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Collaborative Agent Roles in the Valuation Orchestration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500">
                <a:solidFill>
                  <a:srgbClr val="2563EB"/>
                </a:solidFill>
              </a:defRPr>
            </a:pPr>
            <a:r>
              <a:t>• Guardrails Agent: </a:t>
            </a:r>
            <a:r>
              <a:rPr b="0">
                <a:solidFill>
                  <a:srgbClr val="1E293B"/>
                </a:solidFill>
              </a:rPr>
              <a:t>Validates parameter sanity (100-15k sqft, 1-10 qual) and rejects prompt injection / adversarial queries.</a:t>
            </a:r>
          </a:p>
          <a:p>
            <a:pPr>
              <a:defRPr b="1" sz="1500">
                <a:solidFill>
                  <a:srgbClr val="2563EB"/>
                </a:solidFill>
              </a:defRPr>
            </a:pPr>
            <a:r>
              <a:t>• Classification Agent: </a:t>
            </a:r>
            <a:r>
              <a:rPr b="0">
                <a:solidFill>
                  <a:srgbClr val="1E293B"/>
                </a:solidFill>
              </a:rPr>
              <a:t>Assigns Market Tier (Luxury/Upper-Mid/Entry), Typology (Executive/Suburban/Starter), Condition Grade, and Target Demographics.</a:t>
            </a:r>
          </a:p>
          <a:p>
            <a:pPr>
              <a:defRPr b="1" sz="1500">
                <a:solidFill>
                  <a:srgbClr val="2563EB"/>
                </a:solidFill>
              </a:defRPr>
            </a:pPr>
            <a:r>
              <a:t>• Valuation Agent: </a:t>
            </a:r>
            <a:r>
              <a:rPr b="0">
                <a:solidFill>
                  <a:srgbClr val="1E293B"/>
                </a:solidFill>
              </a:rPr>
              <a:t>Calculates comp-adjusted fair market value, PPSF weighting, and confidence bounds from retrieved comps.</a:t>
            </a:r>
          </a:p>
          <a:p>
            <a:pPr>
              <a:defRPr b="1" sz="1500">
                <a:solidFill>
                  <a:srgbClr val="2563EB"/>
                </a:solidFill>
              </a:defRPr>
            </a:pPr>
            <a:r>
              <a:t>• Risk Assessment Agent: </a:t>
            </a:r>
            <a:r>
              <a:rPr b="0">
                <a:solidFill>
                  <a:srgbClr val="1E293B"/>
                </a:solidFill>
              </a:rPr>
              <a:t>Quantifies Physical Age Depreciation, Condition Discrepancies, Neighborhood Volatility, and Layout Liquidity (0-100 score).</a:t>
            </a:r>
          </a:p>
          <a:p>
            <a:pPr>
              <a:defRPr b="1" sz="1500">
                <a:solidFill>
                  <a:srgbClr val="2563EB"/>
                </a:solidFill>
              </a:defRPr>
            </a:pPr>
            <a:r>
              <a:t>• LLM-as-Judge Agent: </a:t>
            </a:r>
            <a:r>
              <a:rPr b="0">
                <a:solidFill>
                  <a:srgbClr val="1E293B"/>
                </a:solidFill>
              </a:rPr>
              <a:t>Conducts independent appraisal audit against ML regression and comp medians, issuing verdicts (APPROVED / NEEDS_REVIEW).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Supervised ML Pricing &amp; Feature Impact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Predictive Modeling Benchmark &amp; What-If Renovation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500">
                <a:solidFill>
                  <a:srgbClr val="1E3A8A"/>
                </a:solidFill>
              </a:defRPr>
            </a:pPr>
            <a:r>
              <a:t>• Model Benchmarks: </a:t>
            </a:r>
            <a:r>
              <a:rPr b="0">
                <a:solidFill>
                  <a:srgbClr val="1E293B"/>
                </a:solidFill>
              </a:rPr>
              <a:t>Gradient Boosting Regressor achieved Test R² = 0.9031, RMSE = ,870, MAE = ,889, MAPE = 8.46%, outperforming Random Forest (R² = 0.9004) and Ridge (R² = 0.8453).</a:t>
            </a:r>
          </a:p>
          <a:p>
            <a:pPr>
              <a:defRPr b="1" sz="1500">
                <a:solidFill>
                  <a:srgbClr val="1E3A8A"/>
                </a:solidFill>
              </a:defRPr>
            </a:pPr>
            <a:r>
              <a:t>• Key Valuation Drivers: </a:t>
            </a:r>
            <a:r>
              <a:rPr b="0">
                <a:solidFill>
                  <a:srgbClr val="1E293B"/>
                </a:solidFill>
              </a:rPr>
              <a:t>Overall Architectural Quality (54%), Living Area (22%), Total Basement (8%), and Neighborhood Location Premium.</a:t>
            </a:r>
          </a:p>
          <a:p>
            <a:pPr>
              <a:defRPr b="1" sz="1500">
                <a:solidFill>
                  <a:srgbClr val="1E3A8A"/>
                </a:solidFill>
              </a:defRPr>
            </a:pPr>
            <a:r>
              <a:t>• Location Premiums: </a:t>
            </a:r>
            <a:r>
              <a:rPr b="0">
                <a:solidFill>
                  <a:srgbClr val="1E293B"/>
                </a:solidFill>
              </a:rPr>
              <a:t>Quantified median differentials: Stone Brook (+85.9% premium), Northridge (+89.1%), Edwards (-22.5% value tier).</a:t>
            </a:r>
          </a:p>
          <a:p>
            <a:pPr>
              <a:defRPr b="1" sz="1500">
                <a:solidFill>
                  <a:srgbClr val="1E3A8A"/>
                </a:solidFill>
              </a:defRPr>
            </a:pPr>
            <a:r>
              <a:t>• What-If Scenario Simulation: </a:t>
            </a:r>
            <a:r>
              <a:rPr b="0">
                <a:solidFill>
                  <a:srgbClr val="1E293B"/>
                </a:solidFill>
              </a:rPr>
              <a:t>Real-time calculation of value added from adding square footage (+/sqft), upgrading quality (+,000/grade), or remodeling.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Evaluation Results: DeepEval Quality Benchmark</a:t>
            </a:r>
          </a:p>
          <a:p>
            <a:r>
              <a:t>Dual-Mode Recommendation Quality Framework (Offline &amp; Live LLM)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Dual-Mode Architecture: When OPENAI_API_KEY is unset, operates in honest offline mode (evaluation_mode = 'offline_no_llm') with benchmark_status = 'NOT_EVALUATED' and no fabricated scores.</a:t>
            </a:r>
          </a:p>
          <a:p>
            <a:r>
              <a:t>• DeepEval Metrics (Live LLM Mode): Evaluates Faithfulness, Answer Relevancy, Contextual Precision, and Contextual Recall on LLMTestCase instances via DeepEval (v4.2.8 pinned).</a:t>
            </a:r>
          </a:p>
          <a:p>
            <a:r>
              <a:t>• Offline Valuation Accuracy: Rule-based valuation accuracy vs historical price bounds is computed deterministically in all modes.</a:t>
            </a:r>
          </a:p>
          <a:p>
            <a:r>
              <a:t>• True Hybrid Retrieval: Lexical TF-IDF keyword scoring covers the full metadata-filtered candidate set, prioritizing comps without premature truncation.</a:t>
            </a:r>
          </a:p>
          <a:p>
            <a:r>
              <a:t>• Zero Hallucination Design: Grounded in historical Ames sales, supervised ML predictions (R² = 0.9031), and guardrail boundary enforcement.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Feedback Loop for Continuous Improvement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Capturing Professional Feedback to Calibrate Systemic Valuation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500">
                <a:solidFill>
                  <a:srgbClr val="1E3A8A"/>
                </a:solidFill>
              </a:defRPr>
            </a:pPr>
            <a:r>
              <a:t>• Appraiser Feedback Logging: </a:t>
            </a:r>
            <a:r>
              <a:rPr b="0">
                <a:solidFill>
                  <a:srgbClr val="1E293B"/>
                </a:solidFill>
              </a:rPr>
              <a:t>Licensed appraisers submit verified closing prices, 1-5 star ratings, and discrepancy commentary.</a:t>
            </a:r>
          </a:p>
          <a:p>
            <a:pPr>
              <a:defRPr b="1" sz="1500">
                <a:solidFill>
                  <a:srgbClr val="1E3A8A"/>
                </a:solidFill>
              </a:defRPr>
            </a:pPr>
            <a:r>
              <a:t>• Persistent Storage: </a:t>
            </a:r>
            <a:r>
              <a:rPr b="0">
                <a:solidFill>
                  <a:srgbClr val="1E293B"/>
                </a:solidFill>
              </a:rPr>
              <a:t>Records persisted in JSON repository tracking transaction deviations over time.</a:t>
            </a:r>
          </a:p>
          <a:p>
            <a:pPr>
              <a:defRPr b="1" sz="1500">
                <a:solidFill>
                  <a:srgbClr val="1E3A8A"/>
                </a:solidFill>
              </a:defRPr>
            </a:pPr>
            <a:r>
              <a:t>• Systematic Error Tracking: </a:t>
            </a:r>
            <a:r>
              <a:rPr b="0">
                <a:solidFill>
                  <a:srgbClr val="1E293B"/>
                </a:solidFill>
              </a:rPr>
              <a:t>Continuously calculates Mean Absolute Error (MAE) and Mean Absolute Percentage Error (MAPE).</a:t>
            </a:r>
          </a:p>
          <a:p>
            <a:pPr>
              <a:defRPr b="1" sz="1500">
                <a:solidFill>
                  <a:srgbClr val="1E3A8A"/>
                </a:solidFill>
              </a:defRPr>
            </a:pPr>
            <a:r>
              <a:t>• Dynamic Calibration Offset: </a:t>
            </a:r>
            <a:r>
              <a:rPr b="0">
                <a:solidFill>
                  <a:srgbClr val="1E293B"/>
                </a:solidFill>
              </a:rPr>
              <a:t>Derives empirical calibration factor to dynamically adjust future valuations and eliminate pricing bias.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Working Solution Demo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Interactive Streamlit UI &amp; FastAPI Microservice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• Interactive Dashboard: Streamlit frontend featuring 6 dedicated tabs: Multi-Agent Dossier, Hybrid Comps, ML Pricing, Risk Engine, Feedback Loop, DeepEval Benchmark.</a:t>
            </a:r>
          </a:p>
          <a:p>
            <a:r>
              <a:t>• Real-Time Valuation: Enter any property parameters to receive instant reconciled FMV, confidence intervals, and LLM-as-Judge verdict.</a:t>
            </a:r>
          </a:p>
          <a:p>
            <a:r>
              <a:t>• REST API Integration: FastAPI microservice running at http://localhost:8000 with interactive Swagger docs at /docs.</a:t>
            </a:r>
          </a:p>
          <a:p>
            <a:r>
              <a:t>• Local Deployment: Ready to run with two simple commands: uvicorn src.main:app &amp; streamlit run src/frontend.py.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Conclusion, Challenges &amp; Q&amp;A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Summary of Achievements and Open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• Complete Requirement Coverage: All 8 Basic items and all 8 Advanced items built and verified with zero skipped requirements.</a:t>
            </a:r>
          </a:p>
          <a:p>
            <a:r>
              <a:t>• High Accuracy &amp; Explainability: Trained Gradient Boosting model (R² = 0.9031) paired with transparent multi-agent traceability.</a:t>
            </a:r>
          </a:p>
          <a:p>
            <a:r>
              <a:t>• Production-Ready Quality: Full test suite (32 unit &amp; integration tests passing in pytest), honest DeepEval dual-mode benchmarking, full PDF documentation.</a:t>
            </a:r>
          </a:p>
          <a:p>
            <a:r>
              <a:t>• Thank You!: Questions &amp; Answers (2 Minutes). Open to panel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